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anose="020F0502020204030204" pitchFamily="2" charset="0"/>
      <p:regular r:id="rId14"/>
      <p:bold r:id="rId15"/>
    </p:embeddedFont>
    <p:embeddedFont>
      <p:font typeface="JetBrains Mono"/>
      <p:bold r:id="rId16"/>
    </p:embeddedFont>
    <p:embeddedFont>
      <p:font typeface="Space Grotesk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553075"/>
            <a:ext cx="10820400" cy="695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2077491"/>
            <a:ext cx="609600" cy="476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5553075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09600"/>
            <a:ext cx="370293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38BDF8"/>
                </a:solidFill>
                <a:latin typeface="JetBrains Mono"/>
              </a:rPr>
              <a:t>SISTEMAS EMBEBIDOS · ETAPA 1 · LIME</a:t>
            </a:r>
            <a:r>
              <a:rPr lang="en-US" sz="1125" b="1" i="0" u="none" dirty="0">
                <a:solidFill>
                  <a:srgbClr val="38BDF8"/>
                </a:solidFill>
                <a:latin typeface="JetBrains Mono"/>
              </a:rPr>
              <a:t>002-C3 </a:t>
            </a:r>
            <a:r>
              <a:rPr sz="1125" b="1" i="0" u="none" dirty="0">
                <a:solidFill>
                  <a:srgbClr val="38BDF8"/>
                </a:solidFill>
                <a:latin typeface="JetBrains Mono"/>
              </a:rPr>
              <a:t> SEP–DIC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0" y="609600"/>
            <a:ext cx="4114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94A3B8"/>
                </a:solidFill>
                <a:latin typeface="JetBrains Mono"/>
              </a:rPr>
              <a:t>SysEmb_AeropenduloDoble_LIMEy_SepDic2026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91816"/>
            <a:ext cx="9301162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Space Grotesk"/>
              </a:rPr>
              <a:t>Aeropéndulo Doble con STM32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23258"/>
            <a:ext cx="7524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DM Sans"/>
              </a:rPr>
              <a:t>Sistema de estabilización angular en lazo cerrado mediante propulsión diferencial brushless controlada por PWM.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77350" y="6057900"/>
            <a:ext cx="2786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A580C"/>
                </a:solidFill>
                <a:latin typeface="JetBrains Mono"/>
              </a:rPr>
              <a:t>PONDERACIÓN OBJETIVO: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00736"/>
            <a:ext cx="1276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JetBrains Mono"/>
              </a:rPr>
              <a:t>INTEGRANTE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10286"/>
            <a:ext cx="1322478" cy="6924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DM Sans"/>
              </a:rPr>
              <a:t>Luis</a:t>
            </a:r>
            <a:r>
              <a:rPr lang="es-MX" sz="1500" b="1" i="0" u="none" dirty="0">
                <a:solidFill>
                  <a:srgbClr val="F8FAFC"/>
                </a:solidFill>
                <a:latin typeface="DM Sans"/>
              </a:rPr>
              <a:t> Fernando</a:t>
            </a:r>
          </a:p>
          <a:p>
            <a:pPr algn="l"/>
            <a:r>
              <a:rPr lang="es-MX" sz="1500" b="1" dirty="0" err="1">
                <a:solidFill>
                  <a:srgbClr val="F8FAFC"/>
                </a:solidFill>
                <a:latin typeface="DM Sans"/>
              </a:rPr>
              <a:t>Sanchez</a:t>
            </a:r>
            <a:endParaRPr lang="es-MX" sz="1500" b="1" dirty="0">
              <a:solidFill>
                <a:srgbClr val="F8FAFC"/>
              </a:solidFill>
              <a:latin typeface="DM Sans"/>
            </a:endParaRPr>
          </a:p>
          <a:p>
            <a:pPr algn="l"/>
            <a:r>
              <a:rPr lang="es-MX" sz="1500" b="1" i="0" u="none" dirty="0">
                <a:solidFill>
                  <a:srgbClr val="F8FAFC"/>
                </a:solidFill>
                <a:latin typeface="DM Sans"/>
              </a:rPr>
              <a:t>Moran</a:t>
            </a:r>
            <a:endParaRPr sz="1500" b="1" i="0" u="none" dirty="0">
              <a:solidFill>
                <a:srgbClr val="F8FAFC"/>
              </a:solidFill>
              <a:latin typeface="DM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33600" y="5700736"/>
            <a:ext cx="1276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JetBrains Mono"/>
              </a:rPr>
              <a:t>INTEGRANTE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600" y="5910286"/>
            <a:ext cx="1258358" cy="6924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500" b="1" i="0" u="none" dirty="0">
                <a:solidFill>
                  <a:srgbClr val="F8FAFC"/>
                </a:solidFill>
                <a:latin typeface="DM Sans"/>
              </a:rPr>
              <a:t>Luis </a:t>
            </a:r>
            <a:r>
              <a:rPr sz="1500" b="1" i="0" u="none" dirty="0">
                <a:solidFill>
                  <a:srgbClr val="F8FAFC"/>
                </a:solidFill>
                <a:latin typeface="DM Sans"/>
              </a:rPr>
              <a:t>Santiago</a:t>
            </a:r>
            <a:endParaRPr lang="es-MX" sz="1500" b="1" i="0" u="none" dirty="0">
              <a:solidFill>
                <a:srgbClr val="F8FAFC"/>
              </a:solidFill>
              <a:latin typeface="DM Sans"/>
            </a:endParaRPr>
          </a:p>
          <a:p>
            <a:pPr algn="l"/>
            <a:r>
              <a:rPr lang="en-US" sz="1500" b="1" dirty="0">
                <a:solidFill>
                  <a:srgbClr val="F8FAFC"/>
                </a:solidFill>
                <a:latin typeface="DM Sans"/>
              </a:rPr>
              <a:t>Montoya</a:t>
            </a:r>
          </a:p>
          <a:p>
            <a:pPr algn="l"/>
            <a:r>
              <a:rPr lang="en-US" sz="1500" b="1" i="0" u="none" dirty="0">
                <a:solidFill>
                  <a:srgbClr val="F8FAFC"/>
                </a:solidFill>
                <a:latin typeface="DM Sans"/>
              </a:rPr>
              <a:t>Garduño</a:t>
            </a:r>
            <a:endParaRPr sz="1500" b="1" i="0" u="none" dirty="0">
              <a:solidFill>
                <a:srgbClr val="F8FAFC"/>
              </a:solidFill>
              <a:latin typeface="DM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81400" y="5700736"/>
            <a:ext cx="1276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JetBrains Mono"/>
              </a:rPr>
              <a:t>INTEGRANTE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400" y="5910286"/>
            <a:ext cx="814325" cy="923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DM Sans"/>
              </a:rPr>
              <a:t>Claudio</a:t>
            </a:r>
            <a:r>
              <a:rPr lang="es-MX" sz="1500" b="1" i="0" u="none" dirty="0">
                <a:solidFill>
                  <a:srgbClr val="F8FAFC"/>
                </a:solidFill>
                <a:latin typeface="DM Sans"/>
              </a:rPr>
              <a:t> </a:t>
            </a:r>
          </a:p>
          <a:p>
            <a:pPr algn="l"/>
            <a:r>
              <a:rPr lang="es-MX" sz="1500" b="1" dirty="0">
                <a:solidFill>
                  <a:srgbClr val="F8FAFC"/>
                </a:solidFill>
                <a:latin typeface="DM Sans"/>
              </a:rPr>
              <a:t>Eduardo</a:t>
            </a:r>
          </a:p>
          <a:p>
            <a:pPr algn="l"/>
            <a:r>
              <a:rPr lang="es-MX" sz="1500" b="1" i="0" u="none" dirty="0">
                <a:solidFill>
                  <a:srgbClr val="F8FAFC"/>
                </a:solidFill>
                <a:latin typeface="DM Sans"/>
              </a:rPr>
              <a:t>Galván</a:t>
            </a:r>
          </a:p>
          <a:p>
            <a:pPr algn="l"/>
            <a:r>
              <a:rPr lang="es-MX" sz="1500" b="1" dirty="0">
                <a:solidFill>
                  <a:srgbClr val="F8FAFC"/>
                </a:solidFill>
                <a:latin typeface="DM Sans"/>
              </a:rPr>
              <a:t>Balderas</a:t>
            </a:r>
            <a:endParaRPr sz="1500" b="1" i="0" u="none" dirty="0">
              <a:solidFill>
                <a:srgbClr val="F8FAFC"/>
              </a:solidFill>
              <a:latin typeface="DM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0" y="5700736"/>
            <a:ext cx="1276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JetBrains Mono"/>
              </a:rPr>
              <a:t>INTEGRANTE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910286"/>
            <a:ext cx="919098" cy="923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500" b="1" i="0" u="none" dirty="0" err="1">
                <a:solidFill>
                  <a:srgbClr val="F8FAFC"/>
                </a:solidFill>
                <a:latin typeface="DM Sans"/>
              </a:rPr>
              <a:t>Maria</a:t>
            </a:r>
            <a:endParaRPr lang="es-MX" sz="1500" b="1" i="0" u="none" dirty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500" b="1" i="0" u="none" dirty="0">
                <a:solidFill>
                  <a:srgbClr val="F8FAFC"/>
                </a:solidFill>
                <a:latin typeface="DM Sans"/>
              </a:rPr>
              <a:t>Joss</a:t>
            </a:r>
            <a:r>
              <a:rPr lang="es-MX" sz="1500" b="1" i="0" u="none" dirty="0" err="1">
                <a:solidFill>
                  <a:srgbClr val="F8FAFC"/>
                </a:solidFill>
                <a:latin typeface="DM Sans"/>
              </a:rPr>
              <a:t>eline</a:t>
            </a:r>
            <a:endParaRPr lang="es-MX" sz="1500" b="1" i="0" u="none" dirty="0">
              <a:solidFill>
                <a:srgbClr val="F8FAFC"/>
              </a:solidFill>
              <a:latin typeface="DM Sans"/>
            </a:endParaRPr>
          </a:p>
          <a:p>
            <a:pPr algn="l"/>
            <a:r>
              <a:rPr lang="es-MX" sz="1500" b="1" dirty="0">
                <a:solidFill>
                  <a:srgbClr val="F8FAFC"/>
                </a:solidFill>
                <a:latin typeface="DM Sans"/>
              </a:rPr>
              <a:t>Vel</a:t>
            </a:r>
            <a:r>
              <a:rPr lang="en-US" sz="1500" b="1" dirty="0">
                <a:solidFill>
                  <a:srgbClr val="F8FAFC"/>
                </a:solidFill>
                <a:latin typeface="DM Sans"/>
              </a:rPr>
              <a:t>á</a:t>
            </a:r>
            <a:r>
              <a:rPr lang="es-MX" sz="1500" b="1" dirty="0" err="1">
                <a:solidFill>
                  <a:srgbClr val="F8FAFC"/>
                </a:solidFill>
                <a:latin typeface="DM Sans"/>
              </a:rPr>
              <a:t>zquez</a:t>
            </a:r>
            <a:endParaRPr lang="es-MX" sz="1500" b="1" dirty="0">
              <a:solidFill>
                <a:srgbClr val="F8FAFC"/>
              </a:solidFill>
              <a:latin typeface="DM Sans"/>
            </a:endParaRPr>
          </a:p>
          <a:p>
            <a:pPr algn="l"/>
            <a:r>
              <a:rPr lang="es-MX" sz="1500" b="1" i="0" u="none" dirty="0" err="1">
                <a:solidFill>
                  <a:srgbClr val="F8FAFC"/>
                </a:solidFill>
                <a:latin typeface="DM Sans"/>
              </a:rPr>
              <a:t>Lopez</a:t>
            </a:r>
            <a:endParaRPr sz="1500" b="1" i="0" u="none" dirty="0">
              <a:solidFill>
                <a:srgbClr val="F8FAFC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59735" y="2405062"/>
            <a:ext cx="5122664" cy="3019425"/>
          </a:xfrm>
          <a:prstGeom prst="roundRect">
            <a:avLst>
              <a:gd name="adj" fmla="val 37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95625"/>
            <a:ext cx="228600" cy="19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43325"/>
            <a:ext cx="18097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91025"/>
            <a:ext cx="1619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800600"/>
            <a:ext cx="18097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01 · ORGANIZACIÓN Y NORMATIVA DEL 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Equipo y Estructura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76512"/>
            <a:ext cx="707822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Distribución Equitativa (10 Minutos Totales)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4060" y="2719387"/>
            <a:ext cx="541793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Repositorio Oficial Entregable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4060" y="3138487"/>
            <a:ext cx="541793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369A1"/>
                </a:solidFill>
                <a:latin typeface="JetBrains Mono"/>
              </a:rPr>
              <a:t>SysEmb_AeropenduloDoble_LIMEy_SepDic2026/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071812"/>
            <a:ext cx="5488185" cy="476250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1E293B"/>
                </a:solidFill>
                <a:latin typeface="DM Sans"/>
              </a:rPr>
              <a:t>Luis (0:00–2:30):</a:t>
            </a:r>
            <a:r>
              <a:rPr sz="1425" b="0" i="0" u="none" dirty="0">
                <a:solidFill>
                  <a:srgbClr val="1E293B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1E293B"/>
                </a:solidFill>
                <a:latin typeface="DM Sans"/>
              </a:rPr>
              <a:t>Introducción</a:t>
            </a:r>
            <a:r>
              <a:rPr sz="1425" b="0" i="0" u="none" dirty="0">
                <a:solidFill>
                  <a:srgbClr val="1E293B"/>
                </a:solidFill>
                <a:latin typeface="DM Sans"/>
              </a:rPr>
              <a:t>, </a:t>
            </a:r>
            <a:r>
              <a:rPr sz="1425" b="0" i="0" u="none" dirty="0" err="1">
                <a:solidFill>
                  <a:srgbClr val="1E293B"/>
                </a:solidFill>
                <a:latin typeface="DM Sans"/>
              </a:rPr>
              <a:t>problemática</a:t>
            </a:r>
            <a:r>
              <a:rPr sz="1425" b="0" i="0" u="none" dirty="0">
                <a:solidFill>
                  <a:srgbClr val="1E293B"/>
                </a:solidFill>
                <a:latin typeface="DM Sans"/>
              </a:rPr>
              <a:t> y </a:t>
            </a:r>
            <a:r>
              <a:rPr sz="1425" b="0" i="0" u="none" dirty="0" err="1">
                <a:solidFill>
                  <a:srgbClr val="1E293B"/>
                </a:solidFill>
                <a:latin typeface="DM Sans"/>
              </a:rPr>
              <a:t>justificación</a:t>
            </a:r>
            <a:r>
              <a:rPr sz="1425" b="0" i="0" u="none" dirty="0">
                <a:solidFill>
                  <a:srgbClr val="1E293B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1E293B"/>
                </a:solidFill>
                <a:latin typeface="DM Sans"/>
              </a:rPr>
              <a:t>técnica</a:t>
            </a:r>
            <a:r>
              <a:rPr sz="1425" b="0" i="0" u="none" dirty="0">
                <a:solidFill>
                  <a:srgbClr val="1E293B"/>
                </a:solidFill>
                <a:latin typeface="DM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719512"/>
            <a:ext cx="5488185" cy="47625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1E293B"/>
                </a:solidFill>
                <a:latin typeface="DM Sans"/>
              </a:rPr>
              <a:t>Santiago (2:30–5:00):</a:t>
            </a:r>
            <a:r>
              <a:rPr sz="1425" b="0" i="0" u="none" dirty="0">
                <a:solidFill>
                  <a:srgbClr val="1E293B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1E293B"/>
                </a:solidFill>
                <a:latin typeface="DM Sans"/>
              </a:rPr>
              <a:t>Arquitectura</a:t>
            </a:r>
            <a:r>
              <a:rPr sz="1425" b="0" i="0" u="none" dirty="0">
                <a:solidFill>
                  <a:srgbClr val="1E293B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1E293B"/>
                </a:solidFill>
                <a:latin typeface="DM Sans"/>
              </a:rPr>
              <a:t>en</a:t>
            </a:r>
            <a:r>
              <a:rPr sz="1425" b="0" i="0" u="none" dirty="0">
                <a:solidFill>
                  <a:srgbClr val="1E293B"/>
                </a:solidFill>
                <a:latin typeface="DM Sans"/>
              </a:rPr>
              <a:t> STM32 y </a:t>
            </a:r>
            <a:r>
              <a:rPr sz="1425" b="0" i="0" u="none" dirty="0" err="1">
                <a:solidFill>
                  <a:srgbClr val="1E293B"/>
                </a:solidFill>
                <a:latin typeface="DM Sans"/>
              </a:rPr>
              <a:t>diagrama</a:t>
            </a:r>
            <a:r>
              <a:rPr sz="1425" b="0" i="0" u="none" dirty="0">
                <a:solidFill>
                  <a:srgbClr val="1E293B"/>
                </a:solidFill>
                <a:latin typeface="DM Sans"/>
              </a:rPr>
              <a:t> de </a:t>
            </a:r>
            <a:r>
              <a:rPr sz="1425" b="0" i="0" u="none" dirty="0" err="1">
                <a:solidFill>
                  <a:srgbClr val="1E293B"/>
                </a:solidFill>
                <a:latin typeface="DM Sans"/>
              </a:rPr>
              <a:t>bloques</a:t>
            </a:r>
            <a:r>
              <a:rPr sz="1425" b="0" i="0" u="none" dirty="0">
                <a:solidFill>
                  <a:srgbClr val="1E293B"/>
                </a:solidFill>
                <a:latin typeface="DM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367212"/>
            <a:ext cx="6741169" cy="238125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Claudio (5:00–7:30):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Diagrama de Gantt para Etapas 2 y 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776787"/>
            <a:ext cx="5488185" cy="47625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Joss (7:30–10:00):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Presupuesto, viabilidad y prototipo físico actual.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4060" y="3529012"/>
            <a:ext cx="4589264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JetBrains Mono"/>
              </a:rPr>
              <a:t>├── </a:t>
            </a:r>
            <a:r>
              <a:rPr sz="1350" b="1" i="0" u="none">
                <a:solidFill>
                  <a:srgbClr val="1E293B"/>
                </a:solidFill>
                <a:latin typeface="JetBrains Mono"/>
              </a:rPr>
              <a:t>README.md</a:t>
            </a:r>
            <a:r>
              <a:rPr sz="1350" b="0" i="0" u="none">
                <a:solidFill>
                  <a:srgbClr val="1E293B"/>
                </a:solidFill>
                <a:latin typeface="JetBrains Mono"/>
              </a:rPr>
              <a:t> · Descripción general e integrantes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4060" y="4100512"/>
            <a:ext cx="4589264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JetBrains Mono"/>
              </a:rPr>
              <a:t>├── </a:t>
            </a:r>
            <a:r>
              <a:rPr sz="1350" b="1" i="0" u="none">
                <a:solidFill>
                  <a:srgbClr val="1E293B"/>
                </a:solidFill>
                <a:latin typeface="JetBrains Mono"/>
              </a:rPr>
              <a:t>/presentacion</a:t>
            </a:r>
            <a:r>
              <a:rPr sz="1350" b="0" i="0" u="none">
                <a:solidFill>
                  <a:srgbClr val="1E293B"/>
                </a:solidFill>
                <a:latin typeface="JetBrains Mono"/>
              </a:rPr>
              <a:t> · Entrega oficial Etapa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4060" y="4672012"/>
            <a:ext cx="4589264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JetBrains Mono"/>
              </a:rPr>
              <a:t>└── </a:t>
            </a:r>
            <a:r>
              <a:rPr sz="1350" b="1" i="0" u="none">
                <a:solidFill>
                  <a:srgbClr val="1E293B"/>
                </a:solidFill>
                <a:latin typeface="JetBrains Mono"/>
              </a:rPr>
              <a:t>/firmware_stm32</a:t>
            </a:r>
            <a:r>
              <a:rPr sz="1350" b="0" i="0" u="none">
                <a:solidFill>
                  <a:srgbClr val="1E293B"/>
                </a:solidFill>
                <a:latin typeface="JetBrains Mono"/>
              </a:rPr>
              <a:t> · Código base STM32CubeIDE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02 · PLANTEAMIENTO DEL PROBLEMA · EXPONE: LUIS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Introducción y 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81275"/>
            <a:ext cx="63460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A580C"/>
                </a:solidFill>
                <a:latin typeface="JetBrains Mono"/>
              </a:rPr>
              <a:t>PROBLEMÁTICA EN SISTEMAS DE VUELO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886075"/>
            <a:ext cx="6663332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Space Grotesk"/>
              </a:rPr>
              <a:t>Inestabilidad Dinámica No Lineal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5575" y="2581275"/>
            <a:ext cx="56864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JetBrains Mono"/>
              </a:rPr>
              <a:t>IMPORTANCIA DE LA SOLUCIÓN PROPUESTA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5575" y="2886075"/>
            <a:ext cx="568642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Space Grotesk"/>
              </a:rPr>
              <a:t>Banco de Control Confinado en 1-GDL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38525"/>
            <a:ext cx="51720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DM Sans"/>
              </a:rPr>
              <a:t>Sistemas Multirrotor:</a:t>
            </a:r>
            <a:r>
              <a:rPr sz="1425" b="0" i="0" u="none">
                <a:solidFill>
                  <a:srgbClr val="334155"/>
                </a:solidFill>
                <a:latin typeface="DM Sans"/>
              </a:rPr>
              <a:t> Alta sensibilidad ante perturbaciones aerodinámicas externas.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105275"/>
            <a:ext cx="51720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DM Sans"/>
              </a:rPr>
              <a:t>Riesgo de Pruebas:</a:t>
            </a:r>
            <a:r>
              <a:rPr sz="1425" b="0" i="0" u="none">
                <a:solidFill>
                  <a:srgbClr val="334155"/>
                </a:solidFill>
                <a:latin typeface="DM Sans"/>
              </a:rPr>
              <a:t> Sintonizar lazos PID en vuelo libre destruye prototipos.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772025"/>
            <a:ext cx="51720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DM Sans"/>
              </a:rPr>
              <a:t>No Linealidad:</a:t>
            </a:r>
            <a:r>
              <a:rPr sz="1425" b="0" i="0" u="none">
                <a:solidFill>
                  <a:srgbClr val="334155"/>
                </a:solidFill>
                <a:latin typeface="DM Sans"/>
              </a:rPr>
              <a:t> Empuje cuadrático respecto al ciclo de trabajo PWM.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438525"/>
            <a:ext cx="51720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DM Sans"/>
              </a:rPr>
              <a:t>Emulación Bicóptero:</a:t>
            </a:r>
            <a:r>
              <a:rPr sz="1425" b="0" i="0" u="none">
                <a:solidFill>
                  <a:srgbClr val="334155"/>
                </a:solidFill>
                <a:latin typeface="DM Sans"/>
              </a:rPr>
              <a:t> Reproduce el control de cabeceo mediante empuje diferencial.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4105275"/>
            <a:ext cx="51720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DM Sans"/>
              </a:rPr>
              <a:t>Procesamiento Tiempo Real:</a:t>
            </a:r>
            <a:r>
              <a:rPr sz="1425" b="0" i="0" u="none">
                <a:solidFill>
                  <a:srgbClr val="334155"/>
                </a:solidFill>
                <a:latin typeface="DM Sans"/>
              </a:rPr>
              <a:t> Ejecución determinista del control PID sobre STM32.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4772025"/>
            <a:ext cx="51720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DM Sans"/>
              </a:rPr>
              <a:t>Seguridad Operativa:</a:t>
            </a:r>
            <a:r>
              <a:rPr sz="1425" b="0" i="0" u="none">
                <a:solidFill>
                  <a:srgbClr val="334155"/>
                </a:solidFill>
                <a:latin typeface="DM Sans"/>
              </a:rPr>
              <a:t> Restricción mecánica rotacional con topes de amortiguación.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03 · VALIDACIÓN DE RÚBRICA · EXPONE: LUIS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Complejidad y Alcance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686050"/>
            <a:ext cx="3583781" cy="114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 i="0" u="none">
                <a:solidFill>
                  <a:srgbClr val="0284C7"/>
                </a:solidFill>
                <a:latin typeface="Space Grotesk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81450"/>
            <a:ext cx="54768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DM Sans"/>
              </a:rPr>
              <a:t>Categoría de Alta Complejidad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352925"/>
            <a:ext cx="4871293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DM Sans"/>
              </a:rPr>
              <a:t>Clasificado como variante de péndulo invertido con propulsión dual en lazo cerrado sobre microcontrolador STM32.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8618" y="2009775"/>
            <a:ext cx="5863381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2 Actuadores PWM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8618" y="2533650"/>
            <a:ext cx="58633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2 variadores ESC de 30A con motores Brushless A2212.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8618" y="3028950"/>
            <a:ext cx="5349031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2 Entradas Digitales + 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8618" y="4038600"/>
            <a:ext cx="53490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Botones GPIO de arranque/paro EXTI más retroalimentación angular.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8618" y="4762500"/>
            <a:ext cx="418704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EA580C"/>
                </a:solidFill>
                <a:latin typeface="Space Grotesk"/>
              </a:rPr>
              <a:t>STM32CubeIDE</a:t>
            </a:r>
            <a:r>
              <a:rPr lang="en-US" sz="3000" b="1" i="0" u="none" dirty="0">
                <a:solidFill>
                  <a:srgbClr val="EA580C"/>
                </a:solidFill>
                <a:latin typeface="Space Grotesk"/>
              </a:rPr>
              <a:t> + VS CODE</a:t>
            </a:r>
            <a:endParaRPr sz="3000" b="1" i="0" u="none" dirty="0">
              <a:solidFill>
                <a:srgbClr val="EA580C"/>
              </a:solidFill>
              <a:latin typeface="Space Grotesk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8618" y="5286375"/>
            <a:ext cx="53490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Configuración detallada de temporizadores e interrupciones en Etapas 2 y 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09587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933575"/>
            <a:ext cx="2009775" cy="2876550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86175" y="1914525"/>
            <a:ext cx="2276475" cy="2914650"/>
          </a:xfrm>
          <a:prstGeom prst="roundRect">
            <a:avLst>
              <a:gd name="adj" fmla="val 502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24650" y="1933575"/>
            <a:ext cx="2009775" cy="2876550"/>
          </a:xfrm>
          <a:prstGeom prst="roundRect">
            <a:avLst>
              <a:gd name="adj" fmla="val 5687"/>
            </a:avLst>
          </a:prstGeom>
          <a:solidFill>
            <a:srgbClr val="FFF7ED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72625" y="1933575"/>
            <a:ext cx="2009775" cy="2876550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25" y="3343275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3343275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175" y="3343275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5305425"/>
            <a:ext cx="1524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04 · ARQUITECTURA DEL SISTEMA · EXPONE: SANTIAGO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Diagrama de Bloques Técnico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5286375"/>
            <a:ext cx="3616821" cy="40005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JetBrains Mono"/>
              </a:rPr>
              <a:t>LAZO DE RETROALIMENTACIÓN CONTINUA (100 Hz)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396" y="5257800"/>
            <a:ext cx="69940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DM Sans"/>
              </a:rPr>
              <a:t>El ángulo físico del balancín modifica la lectura del sensor rotacional cerrando el lazo hacia el ADC del STM32.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2181225"/>
            <a:ext cx="1893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SENSORES Y 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2428875"/>
            <a:ext cx="1690211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Adquisición de Estado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038475"/>
            <a:ext cx="1609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• Sensor Angular Eje (ADC1)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3571875"/>
            <a:ext cx="1609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• Botón Inicio / Modo (GPIO)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4105275"/>
            <a:ext cx="1609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• Paro Emergencia (EXTI0)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1775" y="3133725"/>
            <a:ext cx="1047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JetBrains Mono"/>
              </a:rPr>
              <a:t>ADC / GPIO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3825" y="2162175"/>
            <a:ext cx="2226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JetBrains Mono"/>
              </a:rPr>
              <a:t>UNIDAD DE PROCESAMIENTO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3825" y="2409825"/>
            <a:ext cx="1970246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Microcontrolador STM32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3825" y="3057525"/>
            <a:ext cx="18764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DM Sans"/>
              </a:rPr>
              <a:t>• Cálculo de error angular e(t)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3825" y="3590925"/>
            <a:ext cx="18764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DM Sans"/>
              </a:rPr>
              <a:t>• Controlador PID Discreto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3825" y="4124325"/>
            <a:ext cx="18764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DM Sans"/>
              </a:rPr>
              <a:t>• TIM1 CH1 y CH2 (2x PWM)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5050" y="3133725"/>
            <a:ext cx="742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JetBrains Mono"/>
              </a:rPr>
              <a:t>2x PWM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2300" y="2181225"/>
            <a:ext cx="1893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JetBrains Mono"/>
              </a:rPr>
              <a:t>ETAPA DE POTENCIA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2300" y="2428875"/>
            <a:ext cx="1690211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2x Drivers ESC 30A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2300" y="3038475"/>
            <a:ext cx="1609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• Pulso: 1000 a 2000 µs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2300" y="3571875"/>
            <a:ext cx="1609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• Conmutación trifásica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2300" y="4105275"/>
            <a:ext cx="1609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• 2 Fuentes 12V DC en 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6825" y="3133725"/>
            <a:ext cx="8191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JetBrains Mono"/>
              </a:rPr>
              <a:t>3 Fases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0275" y="2181225"/>
            <a:ext cx="1893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JetBrains Mono"/>
              </a:rPr>
              <a:t>ACTUADORES Y PLANTA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0275" y="2428875"/>
            <a:ext cx="1690211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Aeropéndulo Doble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0275" y="3038475"/>
            <a:ext cx="1609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• Motor BLDC 1 (Brazo 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0275" y="3571875"/>
            <a:ext cx="1609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• Motor BLDC 2 (Brazo 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275" y="4105275"/>
            <a:ext cx="16097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• Eje rotacional sobre pivote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72262" y="1704975"/>
            <a:ext cx="4910137" cy="438150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33289"/>
            <a:ext cx="5605462" cy="2038945"/>
          </a:xfrm>
          <a:prstGeom prst="roundRect">
            <a:avLst>
              <a:gd name="adj" fmla="val 560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187" y="1866900"/>
            <a:ext cx="4586287" cy="3562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187" y="1866900"/>
            <a:ext cx="4586287" cy="3562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823864"/>
            <a:ext cx="2871341" cy="3053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05 · MODELADO Y PERIFÉRICOS · EXPONE: SANTIAGO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Dinámica y Control en STM32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0901" y="5543550"/>
            <a:ext cx="573285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JetBrains Mono"/>
              </a:rPr>
              <a:t>Plataforma de control STM32 programada en STM32CubeIDE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309514"/>
            <a:ext cx="663207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Ecuación Dinámica Rotacional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338810"/>
            <a:ext cx="51482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La diferencia de empuje entre ambos rotores genera el par neto estabilizador sobre el eje central.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300835"/>
            <a:ext cx="5700712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TIM1 (CH1 y CH2):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Señales PWM complementarias para los dos ESC.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910435"/>
            <a:ext cx="700682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ADC1 (12 bits):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Muestreo angular con filtro digital promediador.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281910"/>
            <a:ext cx="5700712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EXTI0 / EXTI1: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Interrupción externa inmediata para corte de motores.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62100"/>
            <a:ext cx="5114925" cy="4667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676400"/>
            <a:ext cx="4886325" cy="4438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2652712"/>
            <a:ext cx="18097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3300412"/>
            <a:ext cx="1809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3948112"/>
            <a:ext cx="1809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4595812"/>
            <a:ext cx="1809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5243512"/>
            <a:ext cx="1809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JetBrains Mono"/>
              </a:rPr>
              <a:t>06 · EVIDENCIA FÍSICA DE ETAPA 1 · EXPONE: JOSS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Avances: Prototipo Físico 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1725" y="2095500"/>
            <a:ext cx="601027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Space Grotesk"/>
              </a:rPr>
              <a:t>Ensamble Mecánico y Potencia al 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1725" y="2628900"/>
            <a:ext cx="5495925" cy="47625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Torre Estructural: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Chasis rígido armado con perfil de aluminio estructural.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725" y="3276600"/>
            <a:ext cx="5495925" cy="47625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Pivote Graduado: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Eje sobre rodamientos con transportador angular físico.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725" y="3924300"/>
            <a:ext cx="5495925" cy="47625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Propulsión Instalada: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2 motores Brushless A2212 con 2 ESC amarillos de 30A.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725" y="4572000"/>
            <a:ext cx="5495925" cy="47625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Etapa Energética: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2 fuentes conmutadas de 12V DC integradas en la 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725" y="5219700"/>
            <a:ext cx="5495925" cy="47625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Amortiguación Mecánica: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Topes de espuma instalados para limitar oscilaciones.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4637"/>
            <a:ext cx="3479750" cy="2124075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2814637"/>
            <a:ext cx="3479750" cy="2124075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814637"/>
            <a:ext cx="3479750" cy="2124075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67062"/>
            <a:ext cx="39052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3167062"/>
            <a:ext cx="4286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725" y="3167062"/>
            <a:ext cx="428625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07 · INVESTIGACIÓN Y CÓDIGO INICIAL · EXPONE: JOSS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Avances: Hardware y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00462"/>
            <a:ext cx="384208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Adquisición Completa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110037"/>
            <a:ext cx="302255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 dirty="0">
                <a:solidFill>
                  <a:srgbClr val="475569"/>
                </a:solidFill>
                <a:latin typeface="DM Sans"/>
              </a:rPr>
              <a:t>100% de </a:t>
            </a:r>
            <a:r>
              <a:rPr sz="1425" b="0" i="0" u="none" dirty="0" err="1">
                <a:solidFill>
                  <a:srgbClr val="475569"/>
                </a:solidFill>
                <a:latin typeface="DM Sans"/>
              </a:rPr>
              <a:t>componentes</a:t>
            </a:r>
            <a:r>
              <a:rPr sz="142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DM Sans"/>
              </a:rPr>
              <a:t>disponibles</a:t>
            </a:r>
            <a:r>
              <a:rPr sz="142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lang="en-US" sz="1425" dirty="0">
                <a:solidFill>
                  <a:srgbClr val="475569"/>
                </a:solidFill>
                <a:latin typeface="DM Sans"/>
              </a:rPr>
              <a:t>o viables de </a:t>
            </a:r>
            <a:r>
              <a:rPr lang="en-US" sz="1425" dirty="0" err="1">
                <a:solidFill>
                  <a:srgbClr val="475569"/>
                </a:solidFill>
                <a:latin typeface="DM Sans"/>
              </a:rPr>
              <a:t>compra</a:t>
            </a:r>
            <a:r>
              <a:rPr sz="1425" b="0" i="0" u="none" dirty="0">
                <a:solidFill>
                  <a:srgbClr val="475569"/>
                </a:solidFill>
                <a:latin typeface="DM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3700462"/>
            <a:ext cx="384208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Caracterización ESC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275" y="4110037"/>
            <a:ext cx="30225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 dirty="0">
                <a:solidFill>
                  <a:srgbClr val="475569"/>
                </a:solidFill>
                <a:latin typeface="DM Sans"/>
              </a:rPr>
              <a:t>Rango </a:t>
            </a:r>
            <a:r>
              <a:rPr sz="1425" b="0" i="0" u="none" dirty="0" err="1">
                <a:solidFill>
                  <a:srgbClr val="475569"/>
                </a:solidFill>
                <a:latin typeface="DM Sans"/>
              </a:rPr>
              <a:t>armado</a:t>
            </a:r>
            <a:r>
              <a:rPr sz="1425" b="0" i="0" u="none" dirty="0">
                <a:solidFill>
                  <a:srgbClr val="475569"/>
                </a:solidFill>
                <a:latin typeface="DM Sans"/>
              </a:rPr>
              <a:t> de 1000 a 2000 </a:t>
            </a:r>
            <a:r>
              <a:rPr sz="1425" b="0" i="0" u="none" dirty="0" err="1">
                <a:solidFill>
                  <a:srgbClr val="475569"/>
                </a:solidFill>
                <a:latin typeface="DM Sans"/>
              </a:rPr>
              <a:t>microsegundos</a:t>
            </a:r>
            <a:r>
              <a:rPr sz="1425" b="0" i="0" u="none" dirty="0">
                <a:solidFill>
                  <a:srgbClr val="475569"/>
                </a:solidFill>
                <a:latin typeface="DM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8725" y="3700462"/>
            <a:ext cx="381327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Código Base STM32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8725" y="4110037"/>
            <a:ext cx="30225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 dirty="0" err="1">
                <a:solidFill>
                  <a:srgbClr val="475569"/>
                </a:solidFill>
                <a:latin typeface="DM Sans"/>
              </a:rPr>
              <a:t>Periféricos</a:t>
            </a:r>
            <a:r>
              <a:rPr sz="1425" b="0" i="0" u="none" dirty="0">
                <a:solidFill>
                  <a:srgbClr val="475569"/>
                </a:solidFill>
                <a:latin typeface="DM Sans"/>
              </a:rPr>
              <a:t> TIM1 ADC1 </a:t>
            </a:r>
            <a:r>
              <a:rPr sz="1425" b="0" i="0" u="none" dirty="0" err="1">
                <a:solidFill>
                  <a:srgbClr val="475569"/>
                </a:solidFill>
                <a:latin typeface="DM Sans"/>
              </a:rPr>
              <a:t>configurados</a:t>
            </a:r>
            <a:r>
              <a:rPr sz="142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DM Sans"/>
              </a:rPr>
              <a:t>en</a:t>
            </a:r>
            <a:r>
              <a:rPr sz="142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DM Sans"/>
              </a:rPr>
              <a:t>CubeIDE</a:t>
            </a:r>
            <a:r>
              <a:rPr sz="1425" b="0" i="0" u="none" dirty="0">
                <a:solidFill>
                  <a:srgbClr val="475569"/>
                </a:solidFill>
                <a:latin typeface="DM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8450"/>
            <a:ext cx="328925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51300" y="2986087"/>
            <a:ext cx="328925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93000" y="2986087"/>
            <a:ext cx="328925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350" y="3743325"/>
            <a:ext cx="17145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050" y="3743325"/>
            <a:ext cx="17145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08 · PLANEACIÓN A LARGO PLAZO · EXPONE: CLAUDIO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Fases de Evaluación del 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162300"/>
            <a:ext cx="34924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JetBrains Mono"/>
              </a:rPr>
              <a:t>1ª ETAPA · ACTUAL (OCT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429000"/>
            <a:ext cx="303366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Propuesta y Arquitectura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133850"/>
            <a:ext cx="288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Validación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viabilidad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con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chasis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armado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8950" y="3309937"/>
            <a:ext cx="34924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A580C"/>
                </a:solidFill>
                <a:latin typeface="JetBrains Mono"/>
              </a:rPr>
              <a:t>2ª ETAPA · META 16 NOV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8950" y="3576637"/>
            <a:ext cx="366705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75% Módulos / 50% Físico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8950" y="3986212"/>
            <a:ext cx="288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Pruebas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aisladas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PWM con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lectura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angular.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650" y="3309937"/>
            <a:ext cx="34924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JetBrains Mono"/>
              </a:rPr>
              <a:t>3ª ETAPA · META 11 DIC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650" y="3576637"/>
            <a:ext cx="365134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100% Entrega Final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650" y="3986212"/>
            <a:ext cx="288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Control PID completo con revisión de código.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09 · CRONOGRAMA DETALLADO · EXPONE: CLAUDIO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Diagrama de Gantt (Oct–Dic 2026)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25802"/>
              </p:ext>
            </p:extLst>
          </p:nvPr>
        </p:nvGraphicFramePr>
        <p:xfrm>
          <a:off x="609600" y="1662112"/>
          <a:ext cx="10972798" cy="4429125"/>
        </p:xfrm>
        <a:graphic>
          <a:graphicData uri="http://schemas.openxmlformats.org/drawingml/2006/table">
            <a:tbl>
              <a:tblPr/>
              <a:tblGrid>
                <a:gridCol w="2390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3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4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4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36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DM Sans"/>
                        </a:rPr>
                        <a:t>Componente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DM Sans"/>
                        </a:rPr>
                        <a:t>Especificación Técnica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DM Sans"/>
                        </a:rPr>
                        <a:t>Cant.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DM Sans"/>
                        </a:rPr>
                        <a:t>Costo (MXN)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DM Sans"/>
                        </a:rPr>
                        <a:t>Estado Actual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6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Microcontrolador STM32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Placa STM32F103C8T6 + Programador ST-Link V2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$</a:t>
                      </a:r>
                      <a:r>
                        <a:rPr lang="en-US"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800</a:t>
                      </a:r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 MXN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DM Sans"/>
                        </a:rPr>
                        <a:t>Adquirido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6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Propulsión Brushless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Motor A2212 1000KV + Driver ESC 30A + </a:t>
                      </a:r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Hélice</a:t>
                      </a:r>
                      <a:endParaRPr sz="1350" b="0" i="0" u="none" dirty="0">
                        <a:solidFill>
                          <a:srgbClr val="334155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2 Kits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$560 MXN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DM Sans"/>
                        </a:rPr>
                        <a:t>Instalado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6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Fuentes de Poder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Fuente </a:t>
                      </a:r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conmutada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12V DC 10A </a:t>
                      </a:r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carcasa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metálica</a:t>
                      </a:r>
                      <a:endParaRPr sz="1350" b="0" i="0" u="none" dirty="0">
                        <a:solidFill>
                          <a:srgbClr val="334155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$</a:t>
                      </a:r>
                      <a:r>
                        <a:rPr lang="en-US"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120</a:t>
                      </a:r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0 MXN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DM Sans"/>
                        </a:rPr>
                        <a:t>Instalado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6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Estructura Mecánica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Perfil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aluminio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20x20, </a:t>
                      </a:r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rodamientos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, </a:t>
                      </a:r>
                      <a:r>
                        <a:rPr sz="1350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eje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y topes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1 Lote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$</a:t>
                      </a:r>
                      <a:r>
                        <a:rPr lang="en-US"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70</a:t>
                      </a:r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0 MXN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DM Sans"/>
                        </a:rPr>
                        <a:t>Ensamblado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6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Sensores y Entradas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Potenciómetro rotacional, transportador y 2 botones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1 Lote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$140 MXN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DM Sans"/>
                        </a:rPr>
                        <a:t>Adquirido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6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Material Eléctrico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Protoboard, cableado calibre 16/22 AWG y clemas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1 Lote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$110 MXN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DM Sans"/>
                        </a:rPr>
                        <a:t>Adquirido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364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369A1"/>
                          </a:solidFill>
                          <a:latin typeface="DM Sans"/>
                        </a:rPr>
                        <a:t>TOTAL ESTIMADO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Costo </a:t>
                      </a:r>
                      <a:r>
                        <a:rPr sz="1350" b="1" i="0" u="none" dirty="0" err="1">
                          <a:solidFill>
                            <a:srgbClr val="0F172A"/>
                          </a:solidFill>
                          <a:latin typeface="DM Sans"/>
                        </a:rPr>
                        <a:t>dividido</a:t>
                      </a:r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 entre 4 </a:t>
                      </a:r>
                      <a:r>
                        <a:rPr sz="1350" b="1" i="0" u="none" dirty="0" err="1">
                          <a:solidFill>
                            <a:srgbClr val="0F172A"/>
                          </a:solidFill>
                          <a:latin typeface="DM Sans"/>
                        </a:rPr>
                        <a:t>integrantes</a:t>
                      </a:r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 ($</a:t>
                      </a:r>
                      <a:r>
                        <a:rPr lang="en-US"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877.5</a:t>
                      </a:r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 MXN c/u)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100%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EA580C"/>
                          </a:solidFill>
                          <a:latin typeface="DM Sans"/>
                        </a:rPr>
                        <a:t>$</a:t>
                      </a:r>
                      <a:r>
                        <a:rPr lang="en-US" sz="1500" b="1" i="0" u="none" dirty="0">
                          <a:solidFill>
                            <a:srgbClr val="EA580C"/>
                          </a:solidFill>
                          <a:latin typeface="DM Sans"/>
                        </a:rPr>
                        <a:t>3,510</a:t>
                      </a:r>
                      <a:r>
                        <a:rPr sz="1500" b="1" i="0" u="none" dirty="0">
                          <a:solidFill>
                            <a:srgbClr val="EA580C"/>
                          </a:solidFill>
                          <a:latin typeface="DM Sans"/>
                        </a:rPr>
                        <a:t> MXN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0369A1"/>
                          </a:solidFill>
                          <a:latin typeface="DM Sans"/>
                        </a:rPr>
                        <a:t>Viabilidad</a:t>
                      </a:r>
                      <a:r>
                        <a:rPr sz="1350" b="1" i="0" u="none" dirty="0">
                          <a:solidFill>
                            <a:srgbClr val="0369A1"/>
                          </a:solidFill>
                          <a:latin typeface="DM Sans"/>
                        </a:rPr>
                        <a:t> Total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10 · COSTOS Y RECURSOS · EXPONE: JOSS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Presupuesto Estimado y Viabilidad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3871912"/>
            <a:ext cx="6096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45656" y="2043112"/>
            <a:ext cx="5500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8BDF8"/>
                </a:solidFill>
                <a:latin typeface="JetBrains Mono"/>
              </a:rPr>
              <a:t>SESIÓN DE PREGUNTAS Y RESPUESTAS · 3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0415" y="2386012"/>
            <a:ext cx="9351168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Space Grotesk"/>
              </a:rPr>
              <a:t>¿Preguntas y Comentarios?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9781" y="3252787"/>
            <a:ext cx="80724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CBD5E1"/>
                </a:solidFill>
                <a:latin typeface="DM Sans"/>
              </a:rPr>
              <a:t>Aeropéndulo Doble con Microcontrolador STM32 · Entrega Etapa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75546" y="4252912"/>
            <a:ext cx="344090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DM Sans"/>
              </a:rPr>
              <a:t>Luis · Santiago · Claudio · Joss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0843" y="4614862"/>
            <a:ext cx="6310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JetBrains Mono"/>
              </a:rPr>
              <a:t>Repositorio: SysEmb_AeropenduloDoble_LIMEy_SepDic2026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988</Words>
  <Application>Microsoft Office PowerPoint</Application>
  <PresentationFormat>Panorámica</PresentationFormat>
  <Paragraphs>169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Space Grotesk</vt:lpstr>
      <vt:lpstr>DM Sans</vt:lpstr>
      <vt:lpstr>JetBrains Mono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Claudio Galván</cp:lastModifiedBy>
  <cp:revision>3</cp:revision>
  <dcterms:created xsi:type="dcterms:W3CDTF">2013-01-27T09:14:16Z</dcterms:created>
  <dcterms:modified xsi:type="dcterms:W3CDTF">2026-10-20T00:49:36Z</dcterms:modified>
  <cp:category/>
</cp:coreProperties>
</file>